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($)</c:v>
                </c:pt>
              </c:strCache>
            </c:strRef>
          </c:tx>
          <c:spPr>
            <a:solidFill>
              <a:srgbClr val="46F1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B0E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شهر 3</c:v>
                  </c:pt>
                  <c:pt idx="1">
                    <c:v>شهر 6</c:v>
                  </c:pt>
                  <c:pt idx="2">
                    <c:v>شهر 9</c:v>
                  </c:pt>
                  <c:pt idx="3">
                    <c:v>شهر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2500</c:v>
                </c:pt>
                <c:pt idx="1">
                  <c:v>8000</c:v>
                </c:pt>
                <c:pt idx="2">
                  <c:v>14000</c:v>
                </c:pt>
                <c:pt idx="3">
                  <c:v>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0B0E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ACA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E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ACAC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91C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6F1C5">
              <a:alpha val="8000"/>
            </a:srgbClr>
          </a:solidFill>
          <a:ln w="12700">
            <a:solidFill>
              <a:srgbClr val="46F1C5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ADC6FF">
              <a:alpha val="6000"/>
            </a:srgbClr>
          </a:solidFill>
          <a:ln w="12700">
            <a:solidFill>
              <a:srgbClr val="ADC6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46F1C5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46F1C5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46F1C5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46F1C5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46F1C5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46F1C5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502920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272A31"/>
          </a:solidFill>
          <a:ln w="12700">
            <a:solidFill>
              <a:srgbClr val="272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السعودي  • 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easy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1148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46F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14400" y="2487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أتمتة التتبع الكاملة لمتاجر سلة وزد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9443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Client-Side + Server-Side  •  دقائق لا أيام  •  بدون مطوّر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429000"/>
            <a:ext cx="2743200" cy="0"/>
          </a:xfrm>
          <a:prstGeom prst="line">
            <a:avLst/>
          </a:prstGeom>
          <a:noFill/>
          <a:ln w="19050">
            <a:solidFill>
              <a:srgbClr val="46F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110,000+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متجر سعودي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دقائق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وقت الإعداد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الوحيد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5216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السوق العربي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المشكلة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تتبعك مكسور — وأنت لا تعلم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301752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3017520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691640"/>
            <a:ext cx="548640" cy="548640"/>
          </a:xfrm>
          <a:prstGeom prst="ellipse">
            <a:avLst/>
          </a:prstGeom>
          <a:solidFill>
            <a:srgbClr val="FFB4AB">
              <a:alpha val="15000"/>
            </a:srgbClr>
          </a:solidFill>
          <a:ln w="12700">
            <a:solidFill>
              <a:srgbClr val="FFB4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بيانات غير دقيقة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Meta و GA4 يعطيانك أرقاماً مختلفة — لأن الـ Pixel لا يسجّل 30-40% من المشتريات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51760" cy="301752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463040"/>
            <a:ext cx="54864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691640"/>
            <a:ext cx="548640" cy="54864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ميزانية إعلانية ضائعة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تصرف آلاف الريالات وخوارزميات Meta تُحسّن على بيانات ناقصة — النتيجة: ROAS منخفض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651760" cy="301752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463040"/>
            <a:ext cx="54864" cy="3017520"/>
          </a:xfrm>
          <a:prstGeom prst="rect">
            <a:avLst/>
          </a:prstGeom>
          <a:solidFill>
            <a:srgbClr val="ADC6FF"/>
          </a:solidFill>
          <a:ln w="12700">
            <a:solidFill>
              <a:srgbClr val="ADC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691640"/>
            <a:ext cx="548640" cy="548640"/>
          </a:xfrm>
          <a:prstGeom prst="ellipse">
            <a:avLst/>
          </a:prstGeom>
          <a:solidFill>
            <a:srgbClr val="ADC6FF">
              <a:alpha val="15000"/>
            </a:srgbClr>
          </a:solidFill>
          <a:ln w="12700">
            <a:solidFill>
              <a:srgbClr val="AD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معقد ومتكرر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تتعطل مع كل تحديث سلة أو زد — تضطر لاستئجار مستقل مرة أخرى بـ 500–2,000 ريال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272A31"/>
          </a:solidFill>
          <a:ln w="6350">
            <a:solidFill>
              <a:srgbClr val="46F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  95% من أصحاب المتاجر السعودية لا يعرفون أن تتبعهم يفقد بيانات يومياً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حجم السوق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فرصة غير مستغلة بالكامل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solidFill>
            <a:srgbClr val="191C22"/>
          </a:solidFill>
          <a:ln w="12700">
            <a:solidFill>
              <a:srgbClr val="191C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110,000+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4754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إجمالي متاجر سلة + زد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47548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متجر نشط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395728"/>
            <a:ext cx="5120640" cy="822960"/>
          </a:xfrm>
          <a:prstGeom prst="rect">
            <a:avLst/>
          </a:prstGeom>
          <a:solidFill>
            <a:srgbClr val="272A31"/>
          </a:solidFill>
          <a:ln w="12700">
            <a:solidFill>
              <a:srgbClr val="272A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39572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22,000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0" y="2395728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ينفقون +1,000 ريال / شهر إعلانات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2807208"/>
            <a:ext cx="256032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هدفنا المباشر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3419856"/>
            <a:ext cx="3108960" cy="82296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41985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660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419856"/>
            <a:ext cx="5486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هدف Easy Track (3%)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831336"/>
            <a:ext cx="5486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عميل = $20K+ MRR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2651760" cy="64008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رؤية 2030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تدفع نمو التجارة الإلكترونية +25% سنوياً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37560" y="4434840"/>
            <a:ext cx="2651760" cy="64008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 منافس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4709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SaaS عربي متخصص في سلة وزد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0" y="4434840"/>
            <a:ext cx="2651760" cy="64008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Snapchat #1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4709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السعودية الأعلى استخداماً عالمياً — لا أداة تتبع له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0131A"/>
          </a:solidFill>
          <a:ln w="12700">
            <a:solidFill>
              <a:srgbClr val="101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36576" cy="51435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572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6F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 Track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أدخل بياناتك → احصل على بنية تتبع كاملة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3017520" cy="347472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CA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IDs + Tokens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6F1C5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3017520" cy="347472"/>
          </a:xfrm>
          <a:prstGeom prst="rect">
            <a:avLst/>
          </a:prstGeom>
          <a:solidFill>
            <a:srgbClr val="46F1C5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63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Track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6F1C5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3017520" cy="347472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862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E2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GTM Container + sGTM Container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88720" y="438912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272A31"/>
          </a:solidFill>
          <a:ln w="12700">
            <a:solidFill>
              <a:srgbClr val="27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⏱  دقائق لا أيام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411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 الذي تحصل عليه؟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960120"/>
            <a:ext cx="4297680" cy="713232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33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🎯  Google Tag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307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Container كامل جاهز للنشر على حساب GTM الخاص بك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1783080"/>
            <a:ext cx="4297680" cy="713232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🖥️  Server-Side Container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130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sGTM Container للنشر على Stape أو Cloud 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0560" y="2606040"/>
            <a:ext cx="4297680" cy="713232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79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📊  GA4 + Meta + TikTok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2953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كامل لكل المنصات الإعلانية بما فيها Snapchat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80560" y="3429000"/>
            <a:ext cx="4297680" cy="713232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502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🔄  تحديثات تلقائية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776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يتكيف مع تحديثات سلة وزد — لا انقطاع في التتبع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0560" y="4251960"/>
            <a:ext cx="4297680" cy="713232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325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🌐  واجهة عربية كاملة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599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الأداة الوحيدة بدعم عربي متخصص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يعمل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كامل في 3 خطوات بسيطة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834640" y="2514600"/>
            <a:ext cx="457200" cy="0"/>
          </a:xfrm>
          <a:prstGeom prst="line">
            <a:avLst/>
          </a:prstGeom>
          <a:noFill/>
          <a:ln w="19050">
            <a:solidFill>
              <a:srgbClr val="46F1C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715000" y="2514600"/>
            <a:ext cx="457200" cy="0"/>
          </a:xfrm>
          <a:prstGeom prst="line">
            <a:avLst/>
          </a:prstGeom>
          <a:noFill/>
          <a:ln w="19050">
            <a:solidFill>
              <a:srgbClr val="46F1C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468880" cy="233172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207008"/>
            <a:ext cx="457200" cy="457200"/>
          </a:xfrm>
          <a:prstGeom prst="ellipse">
            <a:avLst/>
          </a:prstGeom>
          <a:solidFill>
            <a:srgbClr val="272A31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62763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أدخل بياناتك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0299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رابط متجرك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4505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Pixel IDs (Meta, TikTok, Snap)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87121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CAPI Access Tokens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32918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رابط سيرفرك (sGTM URL)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463040"/>
            <a:ext cx="2468880" cy="2331720"/>
          </a:xfrm>
          <a:prstGeom prst="rect">
            <a:avLst/>
          </a:prstGeom>
          <a:solidFill>
            <a:srgbClr val="191C22"/>
          </a:solidFill>
          <a:ln w="19050">
            <a:solidFill>
              <a:srgbClr val="46F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207008"/>
            <a:ext cx="457200" cy="457200"/>
          </a:xfrm>
          <a:prstGeom prst="ellipse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162763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اضغط 'اعمل الـ Config'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0299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Easy Track يبني الـ Config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10712" y="24505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Client-Side Container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10712" y="287121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Server-Side Container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0712" y="32918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Data Layer كامل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2468880" cy="233172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207008"/>
            <a:ext cx="457200" cy="457200"/>
          </a:xfrm>
          <a:prstGeom prst="ellipse">
            <a:avLst/>
          </a:prstGeom>
          <a:solidFill>
            <a:srgbClr val="272A31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٣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162763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انشر واعمل Publish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072" y="20299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استورد الـ JSON في GTM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91072" y="24505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انشر sGTM على Stape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91072" y="287121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فعّل وشغّل الحملات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91072" y="32918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• تتبع دقيق 95%+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91C22"/>
          </a:solidFill>
          <a:ln w="6350">
            <a:solidFill>
              <a:srgbClr val="46F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🕒  متوسط وقت الإعداد: 8 دقائق  |  مقارنةً بـ 2-5 أيام عند المستقل  |  بدون أي معرفة تقنية مسبقة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الميزة التنافسية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منافس مباشر في السوق العربي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28600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المعيار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554480" cy="457200"/>
          </a:xfrm>
          <a:prstGeom prst="rect">
            <a:avLst/>
          </a:prstGeom>
          <a:solidFill>
            <a:srgbClr val="46F1C5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1280160"/>
            <a:ext cx="1554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Easy Track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مستقل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2801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Elevar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69480" y="12801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يدوي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737360"/>
            <a:ext cx="228600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وقت الإعداد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06040" y="17373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17373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17373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دقائق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17373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1-5 أيام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15000" y="17373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ساعات+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17373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أسابيع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194560"/>
            <a:ext cx="228600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التكلفة / شهر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06040" y="21945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21945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23944" y="21945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179 ريال 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60520" y="21945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500-2,000ر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15000" y="21945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$200-500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69480" y="21945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وقت+خطأ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651760"/>
            <a:ext cx="228600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سلة / زد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06040" y="26517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6040" y="26517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23944" y="26517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متخصص ✓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60520" y="26517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يعتمد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15000" y="26517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✗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69480" y="26517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✗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108960"/>
            <a:ext cx="228600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Server-Side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06040" y="31089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06040" y="31089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23944" y="31089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أوتوماتيكي ✓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160520" y="31089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715000" y="31089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69480" y="31089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3566160"/>
            <a:ext cx="228600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عربية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606040" y="35661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06040" y="35661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23944" y="35661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160520" y="35661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715000" y="35661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269480" y="35661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0040" y="4023360"/>
            <a:ext cx="228600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Snapchat CAPI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606040" y="40233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06040" y="40233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23944" y="40233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5176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160520" y="40233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062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يعتمد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715000" y="40233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6072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✗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269480" y="4023360"/>
            <a:ext cx="1554480" cy="457200"/>
          </a:xfrm>
          <a:prstGeom prst="rect">
            <a:avLst/>
          </a:prstGeom>
          <a:solidFill>
            <a:srgbClr val="10131A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1520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20040" y="4480560"/>
            <a:ext cx="228600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تحديث تلقائي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606040" y="4480560"/>
            <a:ext cx="1554480" cy="457200"/>
          </a:xfrm>
          <a:prstGeom prst="rect">
            <a:avLst/>
          </a:prstGeom>
          <a:solidFill>
            <a:srgbClr val="272A31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06040" y="44805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23944" y="4480560"/>
            <a:ext cx="36576" cy="4572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65176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160520" y="44805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624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✗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715000" y="44805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6072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269480" y="4480560"/>
            <a:ext cx="1554480" cy="4572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0" y="4480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✗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التسعير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أقل من ثُمن تكلفة مستقل واحد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32004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متجر واحد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92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179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ريال / شهر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523744"/>
            <a:ext cx="2194560" cy="9144"/>
          </a:xfrm>
          <a:prstGeom prst="rect">
            <a:avLst/>
          </a:prstGeom>
          <a:solidFill>
            <a:srgbClr val="1E2E28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42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GTM Container كامل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7980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Server Container sGTM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054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Meta + TikTok + Snap + GA4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دعم عربي فني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2560320" cy="3200400"/>
          </a:xfrm>
          <a:prstGeom prst="rect">
            <a:avLst/>
          </a:prstGeom>
          <a:solidFill>
            <a:srgbClr val="272A31"/>
          </a:solidFill>
          <a:ln w="19050">
            <a:solidFill>
              <a:srgbClr val="46F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280160"/>
            <a:ext cx="2560320" cy="4572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3716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الأكثر شيوعاً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النمو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349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2900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ريال / شهر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0" y="2816352"/>
            <a:ext cx="2194560" cy="9144"/>
          </a:xfrm>
          <a:prstGeom prst="rect">
            <a:avLst/>
          </a:prstGeom>
          <a:solidFill>
            <a:srgbClr val="1E2E28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834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حتى 3 متاجر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3090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كل مزايا الخطة الأساسية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74720" y="33467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تقارير دقة التتبع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0" y="3602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إشعارات انقطاع التتبع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858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أولوية في الدعم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560320" cy="32004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الوكالة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1792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699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63640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ريال / شهر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2523744"/>
            <a:ext cx="2194560" cy="9144"/>
          </a:xfrm>
          <a:prstGeom prst="rect">
            <a:avLst/>
          </a:prstGeom>
          <a:solidFill>
            <a:srgbClr val="1E2E28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542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حتى 10 متاجر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27980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لوحة تحكم موحدة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3054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White-label (اختياري)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3310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مدير حساب مخصص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35661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 تقارير شهرية للعملاء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solidFill>
            <a:srgbClr val="272A31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💡  بدلاً من 1,500 ريال مرة واحدة للمستقل — احصل على تتبع دائم بـ 179 ريال / شهر مع تحديثات مجانية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الطريق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الـ Beta إلى $20,000 MRR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200400" cy="86868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0" y="1280160"/>
            <a:ext cx="45720" cy="86868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3350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1-2  —  الأساس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06440" y="16002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20 عميل  •  $1,500 MRR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06440" y="1828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20 عميل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تواصل مباشر + محتوى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669280" y="2286000"/>
            <a:ext cx="3200400" cy="86868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2286000"/>
            <a:ext cx="45720" cy="86868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3408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3-6  —  الزخم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06440" y="26060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120 عميل  •  $8,000 MRR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06440" y="28346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وكالات شريكة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SEO + Snapchat Ads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0" y="3291840"/>
            <a:ext cx="3200400" cy="86868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3291840"/>
            <a:ext cx="45720" cy="86868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3467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7-12  —  التوسع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06440" y="36118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350 عميل  •  $20,000 MRR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06440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Referral Program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Gulf expansion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5760" y="4114800"/>
            <a:ext cx="1920240" cy="1005840"/>
          </a:xfrm>
          <a:prstGeom prst="rect">
            <a:avLst/>
          </a:prstGeom>
          <a:solidFill>
            <a:srgbClr val="191C22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4114800"/>
            <a:ext cx="1920240" cy="36576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424281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&lt;4%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57200" y="4681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معدل Churn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49011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12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148840" y="4114800"/>
            <a:ext cx="1920240" cy="1005840"/>
          </a:xfrm>
          <a:prstGeom prst="rect">
            <a:avLst/>
          </a:prstGeom>
          <a:solidFill>
            <a:srgbClr val="191C22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48840" y="4114800"/>
            <a:ext cx="1920240" cy="36576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58568" y="424281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33x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2240280" y="4681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LTV/CAC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240280" y="49011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12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931920" y="4114800"/>
            <a:ext cx="1920240" cy="1005840"/>
          </a:xfrm>
          <a:prstGeom prst="rect">
            <a:avLst/>
          </a:prstGeom>
          <a:solidFill>
            <a:srgbClr val="191C22"/>
          </a:solidFill>
          <a:ln w="12700">
            <a:solidFill>
              <a:srgbClr val="1E2E2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931920" y="4114800"/>
            <a:ext cx="1920240" cy="36576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41648" y="424281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50%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4023360" y="4681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Trial → Paid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023360" y="49011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شهر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الآن؟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النافذة مفتوحة — ولن تبقى كذلك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150876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4572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6F1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مفتوح تماماً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يوجد SaaS عربي واحد متخصص في أتمتة التتبع لمنصتي سلة وزد — من يدخل أولاً يمتلك الفئة كاملة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3931920" cy="150876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25880"/>
            <a:ext cx="3931920" cy="45720"/>
          </a:xfrm>
          <a:prstGeom prst="rect">
            <a:avLst/>
          </a:prstGeom>
          <a:solidFill>
            <a:srgbClr val="ADC6FF"/>
          </a:solidFill>
          <a:ln w="12700">
            <a:solidFill>
              <a:srgbClr val="ADC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35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D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1490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IOS 14+ غيّر قواعد اللعبة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856232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Apple أقفلت الـ client-side tracking — Server-Side هو الحل الوحيد لاستعادة دقة البيانات وهذا ما يبنيه Easy Track تلقائياً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931920" cy="150876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71800"/>
            <a:ext cx="3931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81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رؤية 2030 تضخ التجارة الإلكترونية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02152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نمو +25% سنوياً في التجارة الإلكترونية السعودية = آلاف المتاجر الجديدة تحتاج تتبعاً — كل يوم تأخير هو فرصة ضائعة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2971800"/>
            <a:ext cx="3931920" cy="150876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971800"/>
            <a:ext cx="3931920" cy="45720"/>
          </a:xfrm>
          <a:prstGeom prst="rect">
            <a:avLst/>
          </a:prstGeom>
          <a:solidFill>
            <a:srgbClr val="FFB4AB"/>
          </a:solidFill>
          <a:ln w="12700">
            <a:solidFill>
              <a:srgbClr val="FFB4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81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B4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3136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Elevar وStape لا يدعمان سلة وزد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502152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الأدوات الدولية الرائدة تتجاهل السوق العربي — Easy Track يملأ هذا الفراغ بالكامل بالعربية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46F1C5">
              <a:alpha val="6000"/>
            </a:srgbClr>
          </a:solidFill>
          <a:ln w="12700">
            <a:solidFill>
              <a:srgbClr val="46F1C5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ابدأ معنا اليوم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600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ACAC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أول أداة عربية لأتمتة التتبع الكامل لمتاجر سلة وزد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2331720" cy="1371600"/>
          </a:xfrm>
          <a:prstGeom prst="rect">
            <a:avLst/>
          </a:prstGeom>
          <a:solidFill>
            <a:srgbClr val="46F1C5"/>
          </a:solidFill>
          <a:ln w="12700">
            <a:solidFill>
              <a:srgbClr val="46F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تجربة مجانية 7 أيام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131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بدون بطاقة ائتمان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0440" y="2240280"/>
            <a:ext cx="2331720" cy="13716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11880" y="2697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Demo مباشر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3017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15 دقيقة مع المؤسس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2331720" cy="1371600"/>
          </a:xfrm>
          <a:prstGeom prst="rect">
            <a:avLst/>
          </a:prstGeom>
          <a:solidFill>
            <a:srgbClr val="191C22"/>
          </a:solidFill>
          <a:ln w="6350">
            <a:solidFill>
              <a:srgbClr val="1E2E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E2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خطة الوكالة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ابدأ بعملائك الآن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F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tool.easytrac.io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4370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110K+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4727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متجر في السوق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4370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4727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منافس عربي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4370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8 دقائق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4727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 كامل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12280" y="4370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6F1C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95%+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727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48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دقة التتبع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6350">
            <a:solidFill>
              <a:srgbClr val="1E2E2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 Track — Pitch Deck</dc:title>
  <dc:subject>PptxGenJS Presentation</dc:subject>
  <dc:creator>Easy Track</dc:creator>
  <cp:lastModifiedBy>Easy Track</cp:lastModifiedBy>
  <cp:revision>1</cp:revision>
  <dcterms:created xsi:type="dcterms:W3CDTF">2026-05-20T16:29:44Z</dcterms:created>
  <dcterms:modified xsi:type="dcterms:W3CDTF">2026-05-20T16:29:44Z</dcterms:modified>
</cp:coreProperties>
</file>